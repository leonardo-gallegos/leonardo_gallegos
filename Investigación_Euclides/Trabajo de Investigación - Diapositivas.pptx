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  <p:embeddedFont>
      <p:font typeface="Poppi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deafa1883f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deafa1883f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deafa1883f_0_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deafa1883f_0_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deafa1883f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deafa1883f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eafa1883f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eafa1883f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deafa1883f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deafa1883f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deafa1883f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deafa1883f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deafa1883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deafa1883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deafa1883f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deafa1883f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deafa1883f_0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deafa1883f_0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afa1883f_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afa1883f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873950" y="133740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DESCRIPCIÓN, ANÁLISIS Y COMPARACIÓN DE DIVERSAS FORMULACIONES DEL ALGORITMO SIMPLE Y EXTENDIDO DE EUCLIDES</a:t>
            </a:r>
            <a:endParaRPr sz="5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7950" y="2867350"/>
            <a:ext cx="7688100" cy="18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Participantes: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-Eileen Karin Apaza Coaquira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-Renzo Leonardo Gallegos Vilca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-Xiomara Leonor Puma Torres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-Santiago Alonso San Roman Olazo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oppins"/>
                <a:ea typeface="Poppins"/>
                <a:cs typeface="Poppins"/>
                <a:sym typeface="Poppins"/>
              </a:rPr>
              <a:t>Algoritmos 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196492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Algoritmo de Euclides </a:t>
            </a:r>
            <a:endParaRPr u="sng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AutoNum type="arabicPeriod"/>
            </a:pPr>
            <a:r>
              <a:rPr lang="es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Algoritmo de Euclides Básico</a:t>
            </a:r>
            <a:endParaRPr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AutoNum type="arabicPeriod"/>
            </a:pPr>
            <a:r>
              <a:rPr lang="es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Algoritmo Binario del mcd</a:t>
            </a:r>
            <a:endParaRPr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AutoNum type="arabicPeriod"/>
            </a:pPr>
            <a:r>
              <a:rPr lang="es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Algoritmo  de Euclides </a:t>
            </a:r>
            <a:r>
              <a:rPr lang="es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 menor resto</a:t>
            </a:r>
            <a:endParaRPr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Algoritmo de Euclides Extendido</a:t>
            </a:r>
            <a:endParaRPr u="sng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AutoNum type="arabicPeriod"/>
            </a:pPr>
            <a:r>
              <a:rPr lang="es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Algoritmo de Euclides Extendido Recursivo</a:t>
            </a:r>
            <a:endParaRPr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AutoNum type="arabicPeriod"/>
            </a:pPr>
            <a:r>
              <a:rPr lang="es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Algoritmo de Euclides Extendido Iterativo.</a:t>
            </a:r>
            <a:endParaRPr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657475" y="187500"/>
            <a:ext cx="6057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latin typeface="Lato"/>
                <a:ea typeface="Lato"/>
                <a:cs typeface="Lato"/>
                <a:sym typeface="Lato"/>
              </a:rPr>
              <a:t>INTRODUCCIÓN</a:t>
            </a:r>
            <a:endParaRPr b="1" sz="17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7650" y="350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oppins"/>
                <a:ea typeface="Poppins"/>
                <a:cs typeface="Poppins"/>
                <a:sym typeface="Poppins"/>
              </a:rPr>
              <a:t>El mejor algoritmo de Euclides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1997725" y="1344500"/>
            <a:ext cx="636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latin typeface="Lato"/>
                <a:ea typeface="Lato"/>
                <a:cs typeface="Lato"/>
                <a:sym typeface="Lato"/>
              </a:rPr>
              <a:t>Algoritmo de Euclides con menor resto</a:t>
            </a:r>
            <a:endParaRPr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1044925" y="1711500"/>
            <a:ext cx="303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Concepto Matemático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1148275" y="2047275"/>
            <a:ext cx="6134700" cy="3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Ceil( x ): Devuelve el menor entero mayor o igual a x.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		</a:t>
            </a:r>
            <a:r>
              <a:rPr b="1" lang="es" sz="1100">
                <a:solidFill>
                  <a:srgbClr val="4A86E8"/>
                </a:solidFill>
              </a:rPr>
              <a:t>x</a:t>
            </a:r>
            <a:r>
              <a:rPr lang="es" sz="1100"/>
              <a:t>=Min {n </a:t>
            </a:r>
            <a:r>
              <a:rPr lang="es" sz="1200">
                <a:solidFill>
                  <a:srgbClr val="202124"/>
                </a:solidFill>
                <a:highlight>
                  <a:srgbClr val="FFFFFF"/>
                </a:highlight>
              </a:rPr>
              <a:t>∈ Z | n &gt;= x</a:t>
            </a:r>
            <a:r>
              <a:rPr lang="es" sz="1100"/>
              <a:t>}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		Ejemplo: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			ceil(2.25) = 3 , ceil(2)=2 ,Ceil (-2.25)=-2 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s" sz="1100"/>
              <a:t>Floor(x): Devuelve el más grande entero menor o igual a x. 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b="1" lang="es" sz="1100">
                <a:solidFill>
                  <a:srgbClr val="990000"/>
                </a:solidFill>
              </a:rPr>
              <a:t>x</a:t>
            </a:r>
            <a:r>
              <a:rPr lang="es" sz="1100"/>
              <a:t>=Max {n </a:t>
            </a:r>
            <a:r>
              <a:rPr lang="es" sz="1200">
                <a:solidFill>
                  <a:srgbClr val="202124"/>
                </a:solidFill>
                <a:highlight>
                  <a:srgbClr val="FFFFFF"/>
                </a:highlight>
              </a:rPr>
              <a:t>∈ Z | n &lt;= x</a:t>
            </a:r>
            <a:r>
              <a:rPr lang="es" sz="1100"/>
              <a:t>}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		Ejemplo: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			Floor(2.8) =2 , Floor(-2)=-2 , Floor(-2.3)=-3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	Notemos que </a:t>
            </a:r>
            <a:r>
              <a:rPr b="1" lang="es" sz="1100">
                <a:solidFill>
                  <a:srgbClr val="4A86E8"/>
                </a:solidFill>
              </a:rPr>
              <a:t>x</a:t>
            </a:r>
            <a:r>
              <a:rPr lang="es" sz="1100"/>
              <a:t> = </a:t>
            </a:r>
            <a:r>
              <a:rPr b="1" lang="es" sz="1100">
                <a:solidFill>
                  <a:srgbClr val="990000"/>
                </a:solidFill>
              </a:rPr>
              <a:t>x </a:t>
            </a:r>
            <a:r>
              <a:rPr lang="es" sz="1100"/>
              <a:t> si y sólo si x es entero, en otro caso </a:t>
            </a:r>
            <a:r>
              <a:rPr b="1" lang="es" sz="1100">
                <a:solidFill>
                  <a:srgbClr val="4A86E8"/>
                </a:solidFill>
              </a:rPr>
              <a:t>x</a:t>
            </a:r>
            <a:r>
              <a:rPr lang="es" sz="1100"/>
              <a:t>= </a:t>
            </a:r>
            <a:r>
              <a:rPr b="1" lang="es" sz="1100">
                <a:solidFill>
                  <a:srgbClr val="990000"/>
                </a:solidFill>
              </a:rPr>
              <a:t>x</a:t>
            </a:r>
            <a:r>
              <a:rPr lang="es" sz="1100"/>
              <a:t> + 1.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Usamos Ceil(x) y Floor(x), para poder encontrar el menor resto 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/>
        </p:nvSpPr>
        <p:spPr>
          <a:xfrm>
            <a:off x="476650" y="704100"/>
            <a:ext cx="3150300" cy="40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#include &lt;iostream&gt;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#include &lt;NTL/ZZ.h&gt;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using namespace std;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using namespace NTL;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ZZ mcdMenorResto(ZZ a, ZZ b){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ZZ c,d,r;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if(a==0){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c=b;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else{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c=a;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d=b;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while(d&lt;0 or d&gt;0){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r=c-d*(c/d+1/2);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c=d;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    d=r;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return abs(c);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3886075" y="1556500"/>
            <a:ext cx="4426200" cy="1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int main() {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ZZ a,b;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cin&gt;&gt;a;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cin&gt;&gt;b;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cout&lt;&lt;mcdMenorResto(a,b)&lt;&lt;endl;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    return 0;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699500" y="112900"/>
            <a:ext cx="586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Lato"/>
                <a:ea typeface="Lato"/>
                <a:cs typeface="Lato"/>
                <a:sym typeface="Lato"/>
              </a:rPr>
              <a:t>CÓDIGO</a:t>
            </a:r>
            <a:r>
              <a:rPr b="1" lang="es">
                <a:latin typeface="Lato"/>
                <a:ea typeface="Lato"/>
                <a:cs typeface="Lato"/>
                <a:sym typeface="Lato"/>
              </a:rPr>
              <a:t> DEL ALGORITMO DE EUCLIDES CON MENOR RESTO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/>
        </p:nvSpPr>
        <p:spPr>
          <a:xfrm>
            <a:off x="653425" y="588875"/>
            <a:ext cx="586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latin typeface="Poppins"/>
                <a:ea typeface="Poppins"/>
                <a:cs typeface="Poppins"/>
                <a:sym typeface="Poppins"/>
              </a:rPr>
              <a:t>CARACTERÍSTICAS</a:t>
            </a:r>
            <a:r>
              <a:rPr b="1" lang="es" sz="1600">
                <a:latin typeface="Poppins"/>
                <a:ea typeface="Poppins"/>
                <a:cs typeface="Poppins"/>
                <a:sym typeface="Poppins"/>
              </a:rPr>
              <a:t> DEL SISTEMA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/>
          </a:blip>
          <a:srcRect b="46522" l="28964" r="41386" t="30227"/>
          <a:stretch/>
        </p:blipFill>
        <p:spPr>
          <a:xfrm>
            <a:off x="1090125" y="1369775"/>
            <a:ext cx="6817051" cy="3006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526950" y="3003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Comparación con el resto de algoritmos</a:t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7350" y="2987069"/>
            <a:ext cx="3336850" cy="19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400" y="2641650"/>
            <a:ext cx="3928800" cy="2259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90875" y="1024650"/>
            <a:ext cx="5650427" cy="154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91188" y="1313425"/>
            <a:ext cx="4339275" cy="154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727650" y="350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oppins"/>
                <a:ea typeface="Poppins"/>
                <a:cs typeface="Poppins"/>
                <a:sym typeface="Poppins"/>
              </a:rPr>
              <a:t>El mejor algoritmo extendido de Euclides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915775" y="1298200"/>
            <a:ext cx="636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Algoritmo extendido de Euclides iterativo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1044925" y="1711500"/>
            <a:ext cx="303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Concepto Matemático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1148275" y="2047275"/>
            <a:ext cx="61347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3" name="Google Shape;133;p19"/>
          <p:cNvPicPr preferRelativeResize="0"/>
          <p:nvPr/>
        </p:nvPicPr>
        <p:blipFill rotWithShape="1">
          <a:blip r:embed="rId3">
            <a:alphaModFix/>
          </a:blip>
          <a:srcRect b="11237" l="4351" r="3252" t="24104"/>
          <a:stretch/>
        </p:blipFill>
        <p:spPr>
          <a:xfrm>
            <a:off x="899650" y="2111400"/>
            <a:ext cx="6631949" cy="2610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727650" y="350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oppins"/>
                <a:ea typeface="Poppins"/>
                <a:cs typeface="Poppins"/>
                <a:sym typeface="Poppins"/>
              </a:rPr>
              <a:t>El mejor algoritmo extendido de Euclides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915775" y="1298200"/>
            <a:ext cx="636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Algoritmo extendido de Euclides iterativo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1044925" y="1711500"/>
            <a:ext cx="303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Seguimiento 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Numérico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1148275" y="2047275"/>
            <a:ext cx="61347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2" name="Google Shape;14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150" y="2226300"/>
            <a:ext cx="7196375" cy="2586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/>
        </p:nvSpPr>
        <p:spPr>
          <a:xfrm>
            <a:off x="1096575" y="252075"/>
            <a:ext cx="767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Lato"/>
                <a:ea typeface="Lato"/>
                <a:cs typeface="Lato"/>
                <a:sym typeface="Lato"/>
              </a:rPr>
              <a:t>CÓDIGO</a:t>
            </a:r>
            <a:r>
              <a:rPr lang="es">
                <a:latin typeface="Lato"/>
                <a:ea typeface="Lato"/>
                <a:cs typeface="Lato"/>
                <a:sym typeface="Lato"/>
              </a:rPr>
              <a:t> EXTENDIDO DE EUCLIDES EN SU FORMA ITERATIVA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504775" y="709975"/>
            <a:ext cx="3679500" cy="42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#include &lt;iostream&gt;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#include &lt;NTL/ZZ.h&gt;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using namespace std;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using namespace NTL;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void eucExt(ZZ a, ZZ b, ZZ&amp; x, ZZ&amp; y)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{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    x = ZZ(1), y = ZZ(0);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    ZZ x1(0), y1(1), a1(a), b1(b);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    while (b1 != 0)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    {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        ZZ q = a1 / b1;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        tie(x, x1) = make_tuple(x1, x - q * x1);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        tie(y, y1) = make_tuple(y1, y - q * y1);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        tie(a1, b1) = make_tuple(b1, a1 - q * b1);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    }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}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5031400" y="1207300"/>
            <a:ext cx="3487200" cy="21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int main()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{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    ZZ x, y, a, b;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    cin&gt;&gt;a;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    cin&gt;&gt;b;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    eucExt(a, b, x, y);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    cout &lt;&lt; "MCD("&lt;&lt; a &lt;&lt; ", " &lt;&lt; b&lt;&lt; " ) = " &lt;&lt; eucExt(a, b, x, y)&lt;&lt; endl;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    return 0;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}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619525" y="2193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Comparación con el resto de algoritmos</a:t>
            </a:r>
            <a:endParaRPr/>
          </a:p>
        </p:txBody>
      </p:sp>
      <p:pic>
        <p:nvPicPr>
          <p:cNvPr id="155" name="Google Shape;15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9575" y="2887301"/>
            <a:ext cx="3253676" cy="209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543" y="2887300"/>
            <a:ext cx="3071799" cy="1724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70500" y="1392675"/>
            <a:ext cx="5632075" cy="117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24203" y="1521825"/>
            <a:ext cx="3342622" cy="117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oppins"/>
                <a:ea typeface="Poppins"/>
                <a:cs typeface="Poppins"/>
                <a:sym typeface="Poppins"/>
              </a:rPr>
              <a:t>Conclusiones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Evaluando todos los algoritmos de Euclides, llegamos a la conclusión que el mejor algoritmo es el” Algoritmo de euclides con menor resto “ya que es el </a:t>
            </a:r>
            <a:r>
              <a:rPr lang="es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más</a:t>
            </a:r>
            <a:r>
              <a:rPr lang="es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eficaz para el N° de bits, tiene solo loop. 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En el algoritmo extendido de euclides se llegó a al </a:t>
            </a:r>
            <a:r>
              <a:rPr lang="es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conclusión</a:t>
            </a:r>
            <a:r>
              <a:rPr lang="es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que el mejor algoritmo el “Algoritmo extendido de Euclides en su forma  iterativa” ya que no presenta demora al ejecutar el programa a </a:t>
            </a:r>
            <a:r>
              <a:rPr lang="es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comparación</a:t>
            </a:r>
            <a:r>
              <a:rPr lang="es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del recursivo es eficaz en N° de bits.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